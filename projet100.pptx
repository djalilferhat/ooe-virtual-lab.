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457200"/>
            <a:ext cx="2560320" cy="4206240"/>
          </a:xfrm>
          <a:prstGeom prst="rect">
            <a:avLst/>
          </a:prstGeom>
          <a:solidFill>
            <a:srgbClr val="0A2235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914400"/>
            <a:ext cx="2194560" cy="228600"/>
          </a:xfrm>
          <a:prstGeom prst="rect">
            <a:avLst/>
          </a:prstGeom>
          <a:solidFill>
            <a:srgbClr val="00C9B1">
              <a:alpha val="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2194560" cy="228600"/>
          </a:xfrm>
          <a:prstGeom prst="rect">
            <a:avLst/>
          </a:prstGeom>
          <a:solidFill>
            <a:srgbClr val="00C9B1">
              <a:alpha val="2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2194560"/>
            <a:ext cx="2194560" cy="228600"/>
          </a:xfrm>
          <a:prstGeom prst="rect">
            <a:avLst/>
          </a:prstGeom>
          <a:solidFill>
            <a:srgbClr val="00C9B1">
              <a:alpha val="4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834640"/>
            <a:ext cx="2194560" cy="228600"/>
          </a:xfrm>
          <a:prstGeom prst="rect">
            <a:avLst/>
          </a:prstGeom>
          <a:solidFill>
            <a:srgbClr val="00C9B1">
              <a:alpha val="6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3474720"/>
            <a:ext cx="2194560" cy="228600"/>
          </a:xfrm>
          <a:prstGeom prst="rect">
            <a:avLst/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40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0058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Shadow Wall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Attenuation &amp; the Beer-Lambert Law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109728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34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digital code survive a shielded partition?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of Electromagnetic Wave Propagation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Behind a Shielded Partition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1783080"/>
            <a:ext cx="1097280" cy="91440"/>
          </a:xfrm>
          <a:prstGeom prst="rect">
            <a:avLst/>
          </a:prstGeom>
          <a:solidFill>
            <a:srgbClr val="8AAAB5"/>
          </a:solidFill>
          <a:ln w="12700">
            <a:solidFill>
              <a:srgbClr val="8AAA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AAB5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731520" cy="1645920"/>
          </a:xfrm>
          <a:prstGeom prst="rect">
            <a:avLst/>
          </a:prstGeom>
          <a:solidFill>
            <a:srgbClr val="1B2B3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188720"/>
            <a:ext cx="1097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77640" y="1783080"/>
            <a:ext cx="1097280" cy="91440"/>
          </a:xfrm>
          <a:prstGeom prst="rect">
            <a:avLst/>
          </a:prstGeom>
          <a:solidFill>
            <a:srgbClr val="8AAAB5"/>
          </a:solidFill>
          <a:ln w="12700">
            <a:solidFill>
              <a:srgbClr val="8AAA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AAB5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03520" y="1371600"/>
            <a:ext cx="1371600" cy="914400"/>
          </a:xfrm>
          <a:prstGeom prst="rect">
            <a:avLst/>
          </a:prstGeom>
          <a:solidFill>
            <a:srgbClr val="FF6B6B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I(z)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6B"/>
                </a:solidFill>
              </a:rPr>
              <a:t>?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63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Is the signal intensity after the partition strong enough to decode the digital code?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40480"/>
            <a:ext cx="73152" cy="10972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weakens exponentially as it travels through the medium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84048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840480"/>
            <a:ext cx="73152" cy="10972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Depth (δ)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4206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depth at which the signal drops to ~37% of original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84048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3840480"/>
            <a:ext cx="73152" cy="10972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Threshold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4206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partition thickness d &gt; 5δ, signal is physically unrecoverable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BEER-LAMBERT LAW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Mathematics of Attenuation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0A2235"/>
          </a:solidFill>
          <a:ln w="254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I(z)  =  I₀ · e^(−αz)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1097280" cy="411480"/>
          </a:xfrm>
          <a:prstGeom prst="rect">
            <a:avLst/>
          </a:prstGeom>
          <a:solidFill>
            <a:srgbClr val="007A6E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60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I(z)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5968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intensity at depth z (what the receiver gets)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1097280" cy="411480"/>
          </a:xfrm>
          <a:prstGeom prst="rect">
            <a:avLst/>
          </a:prstGeom>
          <a:solidFill>
            <a:srgbClr val="007A6E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2724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31638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signal intensity (what the transmitter sends)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94176"/>
            <a:ext cx="1097280" cy="411480"/>
          </a:xfrm>
          <a:prstGeom prst="rect">
            <a:avLst/>
          </a:prstGeom>
          <a:solidFill>
            <a:srgbClr val="007A6E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9417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37307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coefficient of the medium (material property)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61104"/>
            <a:ext cx="1097280" cy="411480"/>
          </a:xfrm>
          <a:prstGeom prst="rect">
            <a:avLst/>
          </a:prstGeom>
          <a:solidFill>
            <a:srgbClr val="007A6E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6110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42976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traveled through the medium (partition thickness d)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DEPTH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Calculating δ — The Key Material Parameter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solidFill>
            <a:srgbClr val="0D1B2A"/>
          </a:solidFill>
          <a:ln w="254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 =  √( 2 / (ωμσ) 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E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73152" cy="7315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134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3134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frequency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235915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2πf  (rad/s)  —  how fast the signal oscillates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E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73152" cy="7315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363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31363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permeability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318211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μ₀μᵣ  —  how the material responds to magnetic fields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E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931920"/>
            <a:ext cx="73152" cy="7315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593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39593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conductivity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400507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(S/m)  —  how well the material conducts electricity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7274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meaning: At depth z = δ, the signal intensity has fallen to I₀/e ≈ 36.8% of its original strength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the Shadow Wall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68580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502920" cy="5029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07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5214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Given Parameters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2646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Determine signal frequency f (→ ω = 2πf), material μ and σ from the problem statement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8412480" cy="68580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65960"/>
            <a:ext cx="502920" cy="5029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91109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Skin Depth 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8541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√(2 / ωμσ)    —    This gives you the characteristic attenuation length in meters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8412480" cy="68580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24912"/>
            <a:ext cx="502920" cy="5029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67004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Attenuation Coefficient 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94436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1/δ    —    The Beer-Lambert coefficient equals the reciprocal of skin depth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92424"/>
            <a:ext cx="8412480" cy="68580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83864"/>
            <a:ext cx="502920" cy="5029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83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429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Signal at Depth 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7033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I(d) = I₀ · e^(−d/δ)    —    Substitute the partition thickness 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51376"/>
            <a:ext cx="8412480" cy="68580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242816"/>
            <a:ext cx="502920" cy="5029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42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18795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5δ Criterion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46227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 &gt; 5δ, then I(d) &lt; I₀ · e^(−5) ≈ 0.67% of I₀ → signal is physically unrecoverable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Copper Partition at 1 GHz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1 GHz  →  ω = 2π × 10⁹ ≈ 6.28 × 10⁹ rad/s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5.8 × 10⁷ S/m  (copper conductivity)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6654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 = μ₀ = 4π × 10⁻⁷ H/m  (non-magnetic material)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1401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 thickness  d = 0.5 mm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00400"/>
            <a:ext cx="64008" cy="38404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186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 =  √( 2 / (6.28×10⁹ × 4π×10⁻⁷ × 5.8×10⁷) )  ≈  2.09 μm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57600"/>
            <a:ext cx="64008" cy="38404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758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5δ  =  5 × 2.09 μm  ≈  10.45 μm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114800"/>
            <a:ext cx="64008" cy="38404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330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0.5 mm = 500 μm  &gt;&gt;  5δ = 10.45 μm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VERDICT: d ≫ 5δ  →  The code CANNOT be physically recovered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INTUITION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Exponential Decay?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011680" cy="365760"/>
          </a:xfrm>
          <a:prstGeom prst="rect">
            <a:avLst/>
          </a:prstGeom>
          <a:solidFill>
            <a:srgbClr val="007A6E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z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2286000" cy="365760"/>
          </a:xfrm>
          <a:prstGeom prst="rect">
            <a:avLst/>
          </a:prstGeom>
          <a:solidFill>
            <a:srgbClr val="007A6E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I(z)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143000"/>
            <a:ext cx="1645920" cy="365760"/>
          </a:xfrm>
          <a:prstGeom prst="rect">
            <a:avLst/>
          </a:prstGeom>
          <a:solidFill>
            <a:srgbClr val="007A6E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43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Remaining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1143000"/>
            <a:ext cx="2286000" cy="365760"/>
          </a:xfrm>
          <a:prstGeom prst="rect">
            <a:avLst/>
          </a:prstGeom>
          <a:solidFill>
            <a:srgbClr val="007A6E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508760"/>
            <a:ext cx="2011680" cy="41148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527048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1508760"/>
            <a:ext cx="2286000" cy="41148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527048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508760"/>
            <a:ext cx="1645920" cy="41148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527048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508760"/>
            <a:ext cx="2286000" cy="41148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527048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signal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1947672"/>
            <a:ext cx="20116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965960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1947672"/>
            <a:ext cx="22860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1965960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I₀ · e⁻¹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1947672"/>
            <a:ext cx="16459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965960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36.8%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1947672"/>
            <a:ext cx="22860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1965960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skin depth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386584"/>
            <a:ext cx="2011680" cy="41148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404872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0" y="2386584"/>
            <a:ext cx="2286000" cy="41148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404872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I₀ · e⁻²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2386584"/>
            <a:ext cx="1645920" cy="41148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404872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13.5%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0" y="2386584"/>
            <a:ext cx="2286000" cy="41148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2404872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skin depths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2825496"/>
            <a:ext cx="20116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843784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3δ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0" y="2825496"/>
            <a:ext cx="22860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2843784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I₀ · e⁻³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37760" y="2825496"/>
            <a:ext cx="16459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2843784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75120" y="2825496"/>
            <a:ext cx="22860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2843784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skin depths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264408"/>
            <a:ext cx="2011680" cy="411480"/>
          </a:xfrm>
          <a:prstGeom prst="rect">
            <a:avLst/>
          </a:prstGeom>
          <a:solidFill>
            <a:srgbClr val="1A1000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282696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5δ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0" y="3264408"/>
            <a:ext cx="2286000" cy="411480"/>
          </a:xfrm>
          <a:prstGeom prst="rect">
            <a:avLst/>
          </a:prstGeom>
          <a:solidFill>
            <a:srgbClr val="1A1000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6040" y="3282696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I₀ · e⁻⁵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37760" y="3264408"/>
            <a:ext cx="1645920" cy="411480"/>
          </a:xfrm>
          <a:prstGeom prst="rect">
            <a:avLst/>
          </a:prstGeom>
          <a:solidFill>
            <a:srgbClr val="1A1000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3282696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0.67%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75120" y="3264408"/>
            <a:ext cx="2286000" cy="411480"/>
          </a:xfrm>
          <a:prstGeom prst="rect">
            <a:avLst/>
          </a:prstGeom>
          <a:solidFill>
            <a:srgbClr val="1A1000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3282696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skin depths — threshold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3264408"/>
            <a:ext cx="8503920" cy="182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3657600"/>
            <a:ext cx="8503920" cy="182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3703320"/>
            <a:ext cx="20116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3721608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10δ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560320" y="3703320"/>
            <a:ext cx="22860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06040" y="3721608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I₀ · e⁻¹⁰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937760" y="3703320"/>
            <a:ext cx="16459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83480" y="3721608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0.005%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675120" y="3703320"/>
            <a:ext cx="22860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20840" y="3721608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Completely attenuated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skin depth multiplies the remaining signal by e⁻¹ ≈ 0.368 — a geometric shrinkage at every step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DECODEABILITY CONDITION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5δ Threshold Explained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3108960"/>
          </a:xfrm>
          <a:prstGeom prst="rect">
            <a:avLst/>
          </a:prstGeom>
          <a:solidFill>
            <a:srgbClr val="E8FFF8"/>
          </a:solidFill>
          <a:ln w="25400">
            <a:solidFill>
              <a:srgbClr val="00C9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 ≤ 5δ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RECOVERABLE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Remaining intensity ≥ 0.67% of I₀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Sufficient SNR for digital decoding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correction algorithms can recover the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Common in practical RF shielding design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840480" cy="3108960"/>
          </a:xfrm>
          <a:prstGeom prst="rect">
            <a:avLst/>
          </a:prstGeom>
          <a:solidFill>
            <a:srgbClr val="FFF0F0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 &gt; 5δ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UNRECOVERABLE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Remaining intensity &lt; 0.67% of I₀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Noise overwhelms signal completely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error correction can reconstruct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in Faraday cages for EM isolation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7083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5δ criterion is a physics-based hard limit — no amount of signal processing can overcome it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Beer-Lambert &amp; Skin Depth Matter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150876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Faraday Cages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&amp; lab shielding designed so d &gt;&gt; 5δ to completely block EM signals. Protects sensitive electronics.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97480" cy="150876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280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Comms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choose frequencies with large skin depth to penetrate building walls and reach receivers inside.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97480" cy="150876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280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1691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Machines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pulses must penetrate tissue. Skin depth at MRI frequencies determines image slice thickness.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2697480" cy="150876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971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Submarine Comms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Seawater has high conductivity → tiny skin depth. Only ELF (3-30 Hz) signals reach submarines at depth.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697480" cy="150876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2971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291840" y="3383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Cables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6576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50/60 Hz AC, skin effect forces current to the conductor surface — drives cable design choices.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2880360"/>
            <a:ext cx="2697480" cy="150876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2971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126480" y="3383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Rooms (SCIFs)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36576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Compartmented Info Facilities use thick copper shielding to prevent data leakage via EM radiation.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Shadow Wall — Summary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658368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73152" cy="65836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161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Beer-Lambert Law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51790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I(z) = I₀e^(−αz)  governs how any wave or signal attenuates exponentially through a medium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38528"/>
            <a:ext cx="8412480" cy="658368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38528"/>
            <a:ext cx="73152" cy="65836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65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1984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Depth Formula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26771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√(2/ωμσ)  — depends on frequency and material; smaller δ = more attenuation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88336"/>
            <a:ext cx="8412480" cy="658368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88336"/>
            <a:ext cx="73152" cy="65836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157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2734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Coefficient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0175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1/δ  — directly ties Beer-Lambert to skin depth physics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38144"/>
            <a:ext cx="8412480" cy="658368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438144"/>
            <a:ext cx="73152" cy="65836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655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34838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5δ Rule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376732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partition thickness d &gt; 5δ, signal intensity &lt; 0.67% of I₀ → code cannot be recovered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87952"/>
            <a:ext cx="8412480" cy="658368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187952"/>
            <a:ext cx="73152" cy="65836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153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4233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Insight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451713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frequency or conductivity reduces δ — making shielding more effective at smaller thicknesses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 2: The Shadow Wall – Attenuation</dc:title>
  <dc:subject>PptxGenJS Presentation</dc:subject>
  <dc:creator>PptxGenJS</dc:creator>
  <cp:lastModifiedBy>PptxGenJS</cp:lastModifiedBy>
  <cp:revision>1</cp:revision>
  <dcterms:created xsi:type="dcterms:W3CDTF">2026-04-03T11:44:32Z</dcterms:created>
  <dcterms:modified xsi:type="dcterms:W3CDTF">2026-04-03T11:44:32Z</dcterms:modified>
</cp:coreProperties>
</file>